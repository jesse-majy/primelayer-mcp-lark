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93408"/>
            <a:ext cx="12188952" cy="5486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731520"/>
            <a:ext cx="2286000" cy="2286000"/>
          </a:xfrm>
          <a:prstGeom prst="ellipse">
            <a:avLst/>
          </a:prstGeom>
          <a:solidFill>
            <a:srgbClr val="0F4C81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0" y="1371600"/>
            <a:ext cx="1371600" cy="1371600"/>
          </a:xfrm>
          <a:prstGeom prst="ellipse">
            <a:avLst/>
          </a:prstGeom>
          <a:solidFill>
            <a:srgbClr val="00A6A6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Gateway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32004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我做了什么  |  以后我该怎么做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+ Primelayer MCP + Feishu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 / Spring Boot 3.3.7  ·  Python FastAPI / LangGraph  ·  Vue 3 / Ant Design Vue 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2026-07-01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我做了什么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项目定位与核心价值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项目定位：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Lark Connect Agent Gateway — 打通 Primelayer（地产项目管理系统）与飞书，让用户用自然语言查询项目数据、待办和风险。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21408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底层大模型：DeepSeek，支持 plan + summarize 双阶段调用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身份链路：feishu_open_id → primelayer_user_id → project_id → mcp_token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27248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安全设计：MCP Token AES-GCM 密文存储，永不传入智能层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121408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异步架构：RabbitMQ 任务队列 + 飞书异步回复，避免超时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24328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审计体系：三级审计（任务 / 工具调用 / 模型调用）全覆盖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127248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多场景支持：私聊单项目 / 私聊跨项目 / 群聊项目上下文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0F4F8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[1]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97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自然语言即查询入口，降低 Primelayer 使用门槛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[2]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846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后端是唯一安全边界，Token 不出后端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[3]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5394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三级审计齐全，每次查询可追溯可回放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7490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0F4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一期交付物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4315968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飞书事件接收 + 权限 + MCP 适配 + 审计 + 管理后台 API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4864608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agent-service: 5 步 LangGraph 状态机 + 5 个技能定义 + 确定性摘要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5413248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5394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admin-web: 10 视图 + 3 通用组件 (CrudPage / ReadonlyTable / ResultViewer)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我做了什么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 — 三模块分层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飞书用户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私聊 / 群聊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2801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325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admin-web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5544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Vue3 管理后台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1874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7315200" cy="2926080"/>
          </a:xfrm>
          <a:prstGeom prst="roundRect">
            <a:avLst>
              <a:gd name="adj" fmla="val 3750"/>
            </a:avLst>
          </a:prstGeom>
          <a:solidFill>
            <a:srgbClr val="EEEDFE"/>
          </a:solidFill>
          <a:ln w="1905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317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Java 17 + Spring Boot 3.3 （安全边界）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69748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715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飞书事件接收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953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/ WS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0" y="269748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378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715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管理后台 API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2953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Debug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754880" y="269748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378A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715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加解密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953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AES-GCM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31520" y="338328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378A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编排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6393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 异步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43200" y="338328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378A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适配器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36393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tools/list · tools/call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754880" y="338328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378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 / 回复飞书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6393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+ FeishuClient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229600" y="219456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Agent-Service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2606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 + LangGraph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技能路由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3337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项目范围判定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工具调用规划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160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答案摘要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572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质量校验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638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B8D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638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B8D"/>
                </a:solidFill>
              </a:rPr>
              <a:t>←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72400" y="32461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规划/摘要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5440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56692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Flyway 迁移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926080" y="53949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0" y="5440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926080" y="56692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异步任务队列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03520" y="53949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0" y="5440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Primelayer MCP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03520" y="56692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外部数据源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371600" y="5074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▼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749040" y="5074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▼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26480" y="5074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▼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" y="6172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8640" y="6199632"/>
            <a:ext cx="128016" cy="128016"/>
          </a:xfrm>
          <a:prstGeom prst="rect">
            <a:avLst/>
          </a:prstGeom>
          <a:solidFill>
            <a:srgbClr val="E6F1FB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0" y="6172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安全边界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645920" y="6199632"/>
            <a:ext cx="128016" cy="128016"/>
          </a:xfrm>
          <a:prstGeom prst="rect">
            <a:avLst/>
          </a:prstGeom>
          <a:solidFill>
            <a:srgbClr val="EEEDFE"/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0" y="6172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智能层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0" y="6199632"/>
            <a:ext cx="128016" cy="128016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23360" y="6172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存储层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840480" y="6199632"/>
            <a:ext cx="128016" cy="128016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20640" y="6172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外部数据源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937760" y="6199632"/>
            <a:ext cx="128016" cy="128016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我做了什么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核心数据流 — 端到端消息处理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378AD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飞书消息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FeishuEventController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87452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D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03120" y="13716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F9F27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719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异步入队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2900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D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0" y="13716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0F4C8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AgentWorker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1719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消费消息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98348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D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12080" y="13716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84855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TokenResolver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0" y="1719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解密 MCP Token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5379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D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13716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0F4C81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AgentOrchestrator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1719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编排核心流程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09244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D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21040" y="13716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00A6A6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agent-service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21040" y="1719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技能路由 + 工具规划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766560" y="2286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toolCalls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0" y="27432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E84855">
              <a:alpha val="80000"/>
            </a:srgbClr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McpAdapter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0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携 Token 调 Primelayer MCP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251960" y="2880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D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0" y="27432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00A6A6">
              <a:alpha val="80000"/>
            </a:srgbClr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工具结果回传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agent-service Summarization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080760" y="2880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D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0800" y="27432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EF9F27">
              <a:alpha val="80000"/>
            </a:srgbClr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FeishuClient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异步回复飞书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909560" y="2880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D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29600" y="27432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0F4C81">
              <a:alpha val="80000"/>
            </a:srgbClr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AuditService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写三级审计日志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48640" y="393192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关键设计特征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31520" y="44348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▸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14400" y="4434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异步解耦：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011680" y="4434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飞书消息 → RabbitMQ → Worker，消息接收与处理解耦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44348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▸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4434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安全边界：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98080" y="4434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Token 仅在 Java 后端解密，agent-service 只收脱敏上下文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4937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▸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14400" y="4937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多轮编排：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011680" y="4937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MAX_AGENT_SERVICE_ROUNDS = 4，支持循环规划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17920" y="4937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▸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00800" y="4937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降级策略：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498080" y="4937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agent-service 不可用时回退到 Legacy DeepSeek 链路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我做了什么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状态机 — 5 步 LangGraph 流水线 + 5 技能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0A6A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classify_skill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关键词匹配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技能分类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1460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8036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select_project_scope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80360" y="1536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确定查询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项目范围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21208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F4C81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plan_tool_calls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536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选择只读工具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构建调用参数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7804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54380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0A6A6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summarize_answer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43800" y="1536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模型摘要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或确定性摘要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50976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87552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2D9D5F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quality_check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75520" y="1536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追加数据范围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声明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技能体系（5 个 SkillDefinition）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60350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技能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技能名称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触发关键词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project_report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项目报告与施工情况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施工日报、质量安全、安全隐患、进度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project_status_qa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项目状态问答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项目怎么样、当前进度、健康度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task_risk_qa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任务风险问答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逾期、风险、待办、负责人、阻塞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weekly_report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日报周报生成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周报、日报、总结、本周、下周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general_mcp_qa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通用 MCP 问答（兜底）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查询、看看、帮我分析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0749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关键约束：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只选只读工具（get_/list_/query_/search_ 前缀）·  关键词匹配分类（确定性逻辑）·  摘要可选模型（temperature=0.1），无 API Key 时走确定性摘要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我做了什么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数据库设计 — MySQL 8 + Flyway V1-V5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234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234440"/>
            <a:ext cx="2377440" cy="2743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admin_user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536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管理员账户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2377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2377440"/>
            <a:ext cx="2377440" cy="27432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user_binding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679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飞书↔Primelayer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用户绑定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2377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377440"/>
            <a:ext cx="2377440" cy="27432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feishu_chat_project_binding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2679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飞书群↔项目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绑定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3520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3520440"/>
            <a:ext cx="2377440" cy="27432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project_mcp_token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822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项目级 MCP Token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（密文存储）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0" y="4663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0" y="4663440"/>
            <a:ext cx="237744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201168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agent_task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03120" y="4965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异步任务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5852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11680" y="5806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2D9D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11680" y="5806440"/>
            <a:ext cx="2377440" cy="274320"/>
          </a:xfrm>
          <a:prstGeom prst="rect">
            <a:avLst/>
          </a:prstGeom>
          <a:solidFill>
            <a:srgbClr val="2D9D5F"/>
          </a:solidFill>
          <a:ln/>
        </p:spPr>
      </p:sp>
      <p:sp>
        <p:nvSpPr>
          <p:cNvPr id="33" name="Text 31"/>
          <p:cNvSpPr/>
          <p:nvPr/>
        </p:nvSpPr>
        <p:spPr>
          <a:xfrm>
            <a:off x="2011680" y="5806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agent_audit_log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03120" y="6108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任务级审计日志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5806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2D9D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5806440"/>
            <a:ext cx="2377440" cy="274320"/>
          </a:xfrm>
          <a:prstGeom prst="rect">
            <a:avLst/>
          </a:prstGeom>
          <a:solidFill>
            <a:srgbClr val="2D9D5F"/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5806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agent_tool_call_log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6108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工具调用审计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23760" y="5806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2D9D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5806440"/>
            <a:ext cx="2377440" cy="274320"/>
          </a:xfrm>
          <a:prstGeom prst="rect">
            <a:avLst/>
          </a:prstGeom>
          <a:solidFill>
            <a:srgbClr val="2D9D5F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0" y="5806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agent_model_call_log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6108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模型调用审计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995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011680" y="6949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6B7B8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0" y="6949440"/>
            <a:ext cx="2377440" cy="27432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46" name="Text 44"/>
          <p:cNvSpPr/>
          <p:nvPr/>
        </p:nvSpPr>
        <p:spPr>
          <a:xfrm>
            <a:off x="2011680" y="6949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system_config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103120" y="7251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系统配置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（含 AES 主密钥）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5285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Flyway 迁移历史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初始化 9 张表    </a:t>
            </a:r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user_binding 增加 person_name    </a:t>
            </a:r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project_mcp_token 增加验证状态    </a:t>
            </a:r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增加 owner 字段    </a:t>
            </a:r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去重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以后我该怎么做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当前问题与优化建议 — P0 / P1 / P2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5F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801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E8485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必须修复 — 上生产前阻断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55"/>
                </a:solidFill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pom.xml maven-compiler-plugin 配置 source/target=5（Java 5！）→ 删除或改为 17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55"/>
                </a:solidFill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1488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Token AES-GCM 主密钥存于 system_config 表 → 迁移到环境变量 / KMS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FFBF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92608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26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建议尽快处理 — 影响工程化质量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-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3375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大量改动未提交：初始 commit 后所有迭代堆在工作区 → 按功能分批 commit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685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-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68503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默认管理员凭据 admin/admin123 → 生产环境必须强改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032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-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03250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模型名不一致：.env.example 为 deepseek-v4-pro，application.yml 默认 deepseek-chat → 统一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3799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-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37997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测试覆盖偏低：backend 仅 3 个测试类，agent-service 仅 1 个 → 补核心编排与 MCP 适配测试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02920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6B7B8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0292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6304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持续改进 — 功能与体验优化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4406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*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7280" y="5440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智能性有限：技能分类与工具选择均为关键词匹配 → 引入 LLM-based 路由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57332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*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" y="5733288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DebugController 暴露调试端点 → 生产环境禁用或权限收敛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以后我该怎么做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方法论一致性 — 7 层保障方案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核心诉求：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同一个问题在不同时间提问，Agent 应得出一致的结论（推理路径一致、输出结构一致）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30552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30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确定性流水线优先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3774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→ scope → plan 保持纯关键词逻辑；模型只参与摘要增强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88920"/>
            <a:ext cx="411480" cy="41148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761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= 0 + 固定 Seed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0358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调用 temperature 设为 0；如模型支持 seed 则传入固定值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374136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447288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47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19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结构化答案模板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69417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Skill 绑定 answerTemplate，模型输出必须遵循模板结构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03250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105656"/>
            <a:ext cx="411480" cy="411480"/>
          </a:xfrm>
          <a:prstGeom prst="ellipse">
            <a:avLst/>
          </a:prstGeom>
          <a:solidFill>
            <a:srgbClr val="2D9D5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105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0782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查询结果缓存层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4352544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 (question_hash + project_ids + skill_id) 在 TTL 窗口内命中缓存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69087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764024"/>
            <a:ext cx="411480" cy="41148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764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4736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版本管理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34440" y="5010912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systemPrompt / answerTemplate 纳入版本控制，审计日志记录 prompt 版本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3492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5422392"/>
            <a:ext cx="411480" cy="411480"/>
          </a:xfrm>
          <a:prstGeom prst="ellipse">
            <a:avLst/>
          </a:prstGeom>
          <a:solidFill>
            <a:srgbClr val="6B7B8D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422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34440" y="5394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Test 回归套件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34440" y="56692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黄金测试用例，断言技能 + 工具 + 答案结构，CI 自动运行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600760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" y="608076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6080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34440" y="6053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完整审计可回放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234440" y="63276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三级审计记录全链路（技能/工具/模型/prompt版本/参数），支持按 requestId 回放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以后我该怎么做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技术路线与演进规划 — 三阶段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F0F4F8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8485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16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稳定化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1261872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2618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当前 ~ +1月 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514600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 pom.xml 编译配置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953512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07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提交存量改动，分批 commit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392424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3467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主密钥迁移环境变量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831336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7856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默认凭据强改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270248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24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 DeepSeek 模型名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4709160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663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补核心链路测试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5148072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102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化部署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6908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389120" y="1188720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F0F4F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11887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1216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2628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工程化与一致性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0" y="1261872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12618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2628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+1 ~ +3月 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25146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Temperature=0 + 固定 Seed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295351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907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结构化答案模板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339242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3467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查询缓存层（Redis）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383133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7856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版本管理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0" y="427024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4224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Test 回归套件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470916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4663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DebugController 权限收敛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514807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5102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技能路由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90956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8229600" y="1188720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F0F4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0" y="11887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0A6A6"/>
          </a:solidFill>
          <a:ln/>
        </p:spPr>
      </p:sp>
      <p:sp>
        <p:nvSpPr>
          <p:cNvPr id="52" name="Text 50"/>
          <p:cNvSpPr/>
          <p:nvPr/>
        </p:nvSpPr>
        <p:spPr>
          <a:xfrm>
            <a:off x="8366760" y="1216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36676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 Agent 平台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0698480" y="1261872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698480" y="12618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36676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+3 ~ +6月 ]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412480" y="2514600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8" name="Text 56"/>
          <p:cNvSpPr/>
          <p:nvPr/>
        </p:nvSpPr>
        <p:spPr>
          <a:xfrm>
            <a:off x="859536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工具配置后台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412480" y="2953512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0" name="Text 58"/>
          <p:cNvSpPr/>
          <p:nvPr/>
        </p:nvSpPr>
        <p:spPr>
          <a:xfrm>
            <a:off x="8595360" y="2907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Prompt 模板管理 UI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412480" y="3392424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2" name="Text 60"/>
          <p:cNvSpPr/>
          <p:nvPr/>
        </p:nvSpPr>
        <p:spPr>
          <a:xfrm>
            <a:off x="8595360" y="33467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多入口接入（Web/企微/钉钉）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412480" y="3831336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4" name="Text 62"/>
          <p:cNvSpPr/>
          <p:nvPr/>
        </p:nvSpPr>
        <p:spPr>
          <a:xfrm>
            <a:off x="8595360" y="37856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多步工具调用编排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412480" y="4270248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6" name="Text 64"/>
          <p:cNvSpPr/>
          <p:nvPr/>
        </p:nvSpPr>
        <p:spPr>
          <a:xfrm>
            <a:off x="8595360" y="4224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项目风险主动监控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412480" y="4709160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8" name="Text 66"/>
          <p:cNvSpPr/>
          <p:nvPr/>
        </p:nvSpPr>
        <p:spPr>
          <a:xfrm>
            <a:off x="8595360" y="4663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自动日报/周报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412480" y="5148072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70" name="Text 68"/>
          <p:cNvSpPr/>
          <p:nvPr/>
        </p:nvSpPr>
        <p:spPr>
          <a:xfrm>
            <a:off x="8595360" y="5102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多模型支持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F4C8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00A6A6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A1A2E">
              <a:alpha val="50000"/>
            </a:srgbClr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71600"/>
            <a:ext cx="73152" cy="109728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项目现状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架构清晰、职责分明的 MVP 已基本成型。Java 安全边界 + Python 智能层 + Vue 管理后台，三级审计齐全，异步化设计周到。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A1A2E">
              <a:alpha val="50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73152" cy="1097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优化方向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0175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修编译配置 + 迁密钥 → P1 提交存量 + 强改凭据 + 补测试 → P2 升级智能路由 + 收敛调试接口。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A1A2E">
              <a:alpha val="50000"/>
            </a:srgbClr>
          </a:solidFill>
          <a:ln w="19050">
            <a:solidFill>
              <a:srgbClr val="2D9D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1097280"/>
          </a:xfrm>
          <a:prstGeom prst="rect">
            <a:avLst/>
          </a:prstGeom>
          <a:solidFill>
            <a:srgbClr val="2D9D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一致性保障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层方案：确定性流水线 + temperature=0 + 模板化输出 + 查询缓存 + Prompt 版本管理 + Golden Test + 审计回放。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A1A2E">
              <a:alpha val="50000"/>
            </a:srgbClr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074920"/>
            <a:ext cx="73152" cy="10972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66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4864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MVP 稳定化 → Phase 2 工程化与一致性 → Phase 3 通用 Agent 平台（多入口、多步工具、主动监控）。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① 修 pom.xml 编译配置   ② 提交存量改动   ③ 迁移 MCP 主密钥   ④ 强改默认凭据   ⑤ 补核心链路测试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Lark Connect Team</dc:creator>
  <cp:lastModifiedBy>Lark Connect Team</cp:lastModifiedBy>
  <cp:revision>1</cp:revision>
  <dcterms:created xsi:type="dcterms:W3CDTF">2026-06-30T17:09:02Z</dcterms:created>
  <dcterms:modified xsi:type="dcterms:W3CDTF">2026-06-30T17:09:02Z</dcterms:modified>
</cp:coreProperties>
</file>