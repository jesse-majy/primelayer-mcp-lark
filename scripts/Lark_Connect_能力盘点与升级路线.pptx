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4" name="Shape 2"/>
          <p:cNvSpPr/>
          <p:nvPr/>
        </p:nvSpPr>
        <p:spPr>
          <a:xfrm>
            <a:off x="9601200" y="731520"/>
            <a:ext cx="2286000" cy="2286000"/>
          </a:xfrm>
          <a:prstGeom prst="ellipse">
            <a:avLst/>
          </a:prstGeom>
          <a:solidFill>
            <a:srgbClr val="0EA5E9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241280" y="1371600"/>
            <a:ext cx="1371600" cy="1371600"/>
          </a:xfrm>
          <a:prstGeom prst="ellipse">
            <a:avLst/>
          </a:prstGeom>
          <a:solidFill>
            <a:srgbClr val="F59E0B">
              <a:alpha val="2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Lark Connect 智能助手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EA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能力盘点与升级路线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731520" y="2926080"/>
            <a:ext cx="32004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108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我们现在能做什么  |  还有哪些短板  |  怎样一步步变强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39319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飞书 + Primelayer + DeepSeek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打通项目管理系统与即时通讯，让用户用一句话就能查到项目数据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5486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A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2026年7月1日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0" y="6720840"/>
            <a:ext cx="1218895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Lark Connect 智能助手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56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我们做了什么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一句话概括：飞书里问一句，系统帮你查数据、写报告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4300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一句话说明：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在飞书里打字问一句「项目进度怎么样」，系统自动查 Primelayer 的项目数据，把结果整理成你能看懂的回答发回来。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2560320" cy="2194560"/>
          </a:xfrm>
          <a:prstGeom prst="roundRect">
            <a:avLst>
              <a:gd name="adj" fmla="val 3333"/>
            </a:avLst>
          </a:prstGeom>
          <a:solidFill>
            <a:srgbClr val="F1F5F9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80160" y="2468880"/>
            <a:ext cx="640080" cy="640080"/>
          </a:xfrm>
          <a:prstGeom prst="ellipse">
            <a:avLst/>
          </a:prstGeom>
          <a:solidFill>
            <a:srgbClr val="1A56DB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31520" y="32004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56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自然语言入口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352044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用户在飞书里用日常语言提问，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不需要学任何系统操作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83280" y="2377440"/>
            <a:ext cx="2560320" cy="2194560"/>
          </a:xfrm>
          <a:prstGeom prst="roundRect">
            <a:avLst>
              <a:gd name="adj" fmla="val 3333"/>
            </a:avLst>
          </a:prstGeom>
          <a:solidFill>
            <a:srgbClr val="F1F5F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0" y="2468880"/>
            <a:ext cx="640080" cy="64008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0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566160" y="32004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自动查项目数据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66160" y="352044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系统从 Primelayer 项目管理平台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自动拉取施工日报、进度、风险等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17920" y="2377440"/>
            <a:ext cx="2560320" cy="2194560"/>
          </a:xfrm>
          <a:prstGeom prst="roundRect">
            <a:avLst>
              <a:gd name="adj" fmla="val 3333"/>
            </a:avLst>
          </a:prstGeom>
          <a:solidFill>
            <a:srgbClr val="F1F5F9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49440" y="246888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6949440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400800" y="32004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智能整理回答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0" y="352044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 大模型把原始数据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整理成结构化的结论和建议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052560" y="2377440"/>
            <a:ext cx="2560320" cy="2194560"/>
          </a:xfrm>
          <a:prstGeom prst="roundRect">
            <a:avLst>
              <a:gd name="adj" fmla="val 3333"/>
            </a:avLst>
          </a:prstGeom>
          <a:solidFill>
            <a:srgbClr val="F1F5F9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784080" y="2468880"/>
            <a:ext cx="640080" cy="6400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9784080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235440" y="32004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安全可控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235440" y="352044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项目密钥只在后台使用，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智能层永远接触不到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4754880"/>
            <a:ext cx="11064240" cy="1645920"/>
          </a:xfrm>
          <a:prstGeom prst="roundRect">
            <a:avLst>
              <a:gd name="adj" fmla="val 444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6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流程简述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31520" y="5166360"/>
            <a:ext cx="1645920" cy="502920"/>
          </a:xfrm>
          <a:prstGeom prst="roundRect">
            <a:avLst>
              <a:gd name="adj" fmla="val 10909"/>
            </a:avLst>
          </a:prstGeom>
          <a:solidFill>
            <a:srgbClr val="0EA5E9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51663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飞书提问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331720" y="521208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2560320" y="5166360"/>
            <a:ext cx="1645920" cy="502920"/>
          </a:xfrm>
          <a:prstGeom prst="roundRect">
            <a:avLst>
              <a:gd name="adj" fmla="val 10909"/>
            </a:avLst>
          </a:prstGeom>
          <a:solidFill>
            <a:srgbClr val="1A56DB"/>
          </a:solidFill>
          <a:ln/>
        </p:spPr>
      </p:sp>
      <p:sp>
        <p:nvSpPr>
          <p:cNvPr id="33" name="Text 31"/>
          <p:cNvSpPr/>
          <p:nvPr/>
        </p:nvSpPr>
        <p:spPr>
          <a:xfrm>
            <a:off x="2560320" y="51663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自动分类意图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160520" y="521208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389120" y="5166360"/>
            <a:ext cx="1645920" cy="502920"/>
          </a:xfrm>
          <a:prstGeom prst="roundRect">
            <a:avLst>
              <a:gd name="adj" fmla="val 10909"/>
            </a:avLst>
          </a:prstGeom>
          <a:solidFill>
            <a:srgbClr val="F59E0B"/>
          </a:solidFill>
          <a:ln/>
        </p:spPr>
      </p:sp>
      <p:sp>
        <p:nvSpPr>
          <p:cNvPr id="36" name="Text 34"/>
          <p:cNvSpPr/>
          <p:nvPr/>
        </p:nvSpPr>
        <p:spPr>
          <a:xfrm>
            <a:off x="4389120" y="51663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锁定项目范围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989320" y="521208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217920" y="5166360"/>
            <a:ext cx="1645920" cy="502920"/>
          </a:xfrm>
          <a:prstGeom prst="roundRect">
            <a:avLst>
              <a:gd name="adj" fmla="val 10909"/>
            </a:avLst>
          </a:prstGeom>
          <a:solidFill>
            <a:srgbClr val="EF4444"/>
          </a:solidFill>
          <a:ln/>
        </p:spPr>
      </p:sp>
      <p:sp>
        <p:nvSpPr>
          <p:cNvPr id="39" name="Text 37"/>
          <p:cNvSpPr/>
          <p:nvPr/>
        </p:nvSpPr>
        <p:spPr>
          <a:xfrm>
            <a:off x="6217920" y="51663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调用数据工具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818120" y="521208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8046720" y="5166360"/>
            <a:ext cx="1645920" cy="502920"/>
          </a:xfrm>
          <a:prstGeom prst="roundRect">
            <a:avLst>
              <a:gd name="adj" fmla="val 10909"/>
            </a:avLst>
          </a:prstGeom>
          <a:solidFill>
            <a:srgbClr val="10B981"/>
          </a:solidFill>
          <a:ln/>
        </p:spPr>
      </p:sp>
      <p:sp>
        <p:nvSpPr>
          <p:cNvPr id="42" name="Text 40"/>
          <p:cNvSpPr/>
          <p:nvPr/>
        </p:nvSpPr>
        <p:spPr>
          <a:xfrm>
            <a:off x="8046720" y="51663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整理回答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9646920" y="521208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9875520" y="5166360"/>
            <a:ext cx="1645920" cy="502920"/>
          </a:xfrm>
          <a:prstGeom prst="roundRect">
            <a:avLst>
              <a:gd name="adj" fmla="val 10909"/>
            </a:avLst>
          </a:prstGeom>
          <a:solidFill>
            <a:srgbClr val="0EA5E9"/>
          </a:solidFill>
          <a:ln/>
        </p:spPr>
      </p:sp>
      <p:sp>
        <p:nvSpPr>
          <p:cNvPr id="45" name="Text 43"/>
          <p:cNvSpPr/>
          <p:nvPr/>
        </p:nvSpPr>
        <p:spPr>
          <a:xfrm>
            <a:off x="9875520" y="51663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飞书回复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31520" y="580644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整个过程不需要人工介入，用户只管提问，系统全程自动完成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0" y="6720840"/>
            <a:ext cx="1218895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8" name="Text 46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Lark Connect 智能助手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56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目前能回答哪些问题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个技能覆盖项目管理的常见场景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09728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1A56D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34440" y="10332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6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项目报告与施工情况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34440" y="134416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触发示例：今日施工情况、质量安全、隐患排查、项目进度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0" y="103327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能做：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 Primelayer 施工日报/周报/质量/安全表单，整合出报告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863840" y="103327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还做不了：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无法对比历史趋势，无法主动发现问题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14800" y="1600200"/>
            <a:ext cx="7132320" cy="228600"/>
          </a:xfrm>
          <a:prstGeom prst="roundRect">
            <a:avLst>
              <a:gd name="adj" fmla="val 12000"/>
            </a:avLst>
          </a:prstGeom>
          <a:solidFill>
            <a:srgbClr val="E2E8F0"/>
          </a:solidFill>
          <a:ln/>
        </p:spPr>
      </p:sp>
      <p:sp>
        <p:nvSpPr>
          <p:cNvPr id="13" name="Shape 11"/>
          <p:cNvSpPr/>
          <p:nvPr/>
        </p:nvSpPr>
        <p:spPr>
          <a:xfrm>
            <a:off x="4114800" y="1600200"/>
            <a:ext cx="4992624" cy="228600"/>
          </a:xfrm>
          <a:prstGeom prst="roundRect">
            <a:avLst>
              <a:gd name="adj" fmla="val 12000"/>
            </a:avLst>
          </a:prstGeom>
          <a:solidFill>
            <a:srgbClr val="1A56DB"/>
          </a:solidFill>
          <a:ln/>
        </p:spPr>
      </p:sp>
      <p:sp>
        <p:nvSpPr>
          <p:cNvPr id="14" name="Text 12"/>
          <p:cNvSpPr/>
          <p:nvPr/>
        </p:nvSpPr>
        <p:spPr>
          <a:xfrm>
            <a:off x="11338560" y="158191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完成度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48640" y="205740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219456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0EA5E9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34440" y="213055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项目状态问答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34440" y="244144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触发示例：项目怎么样、当前进度、健康度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114800" y="213055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能做：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查项目健康度和状态指标，给出结论和建议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863840" y="213055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还做不了：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无法跨项目对比，无法判断指标变化方向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114800" y="2697480"/>
            <a:ext cx="7132320" cy="228600"/>
          </a:xfrm>
          <a:prstGeom prst="roundRect">
            <a:avLst>
              <a:gd name="adj" fmla="val 12000"/>
            </a:avLst>
          </a:prstGeom>
          <a:solidFill>
            <a:srgbClr val="E2E8F0"/>
          </a:solidFill>
          <a:ln/>
        </p:spPr>
      </p:sp>
      <p:sp>
        <p:nvSpPr>
          <p:cNvPr id="23" name="Shape 21"/>
          <p:cNvSpPr/>
          <p:nvPr/>
        </p:nvSpPr>
        <p:spPr>
          <a:xfrm>
            <a:off x="4114800" y="2697480"/>
            <a:ext cx="3566160" cy="228600"/>
          </a:xfrm>
          <a:prstGeom prst="roundRect">
            <a:avLst>
              <a:gd name="adj" fmla="val 12000"/>
            </a:avLst>
          </a:prstGeom>
          <a:solidFill>
            <a:srgbClr val="0EA5E9"/>
          </a:solidFill>
          <a:ln/>
        </p:spPr>
      </p:sp>
      <p:sp>
        <p:nvSpPr>
          <p:cNvPr id="24" name="Text 22"/>
          <p:cNvSpPr/>
          <p:nvPr/>
        </p:nvSpPr>
        <p:spPr>
          <a:xfrm>
            <a:off x="11338560" y="267919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完成度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48640" y="315468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329184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234440" y="32278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任务风险问答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234440" y="353872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触发示例：逾期任务、风险、待办、负责人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114800" y="322783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能做：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查任务列表和风险项，按优先级整理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863840" y="322783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还做不了：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无法预测风险趋势，无法做跨项目风险汇总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114800" y="3794760"/>
            <a:ext cx="7132320" cy="228600"/>
          </a:xfrm>
          <a:prstGeom prst="roundRect">
            <a:avLst>
              <a:gd name="adj" fmla="val 12000"/>
            </a:avLst>
          </a:prstGeom>
          <a:solidFill>
            <a:srgbClr val="E2E8F0"/>
          </a:solidFill>
          <a:ln/>
        </p:spPr>
      </p:sp>
      <p:sp>
        <p:nvSpPr>
          <p:cNvPr id="33" name="Shape 31"/>
          <p:cNvSpPr/>
          <p:nvPr/>
        </p:nvSpPr>
        <p:spPr>
          <a:xfrm>
            <a:off x="4114800" y="3794760"/>
            <a:ext cx="3566160" cy="228600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/>
        </p:spPr>
      </p:sp>
      <p:sp>
        <p:nvSpPr>
          <p:cNvPr id="34" name="Text 32"/>
          <p:cNvSpPr/>
          <p:nvPr/>
        </p:nvSpPr>
        <p:spPr>
          <a:xfrm>
            <a:off x="11338560" y="377647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完成度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48640" y="425196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0080" y="438912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10B981"/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234440" y="432511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日报周报生成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234440" y="463600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触发示例：本周周报、日报总结、阶段汇报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114800" y="432511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能做：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自动查项目健康度和任务数据，拼接成报告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863840" y="432511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还做不了：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无法做深度分析，无法加入现场核查结论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114800" y="4892040"/>
            <a:ext cx="7132320" cy="228600"/>
          </a:xfrm>
          <a:prstGeom prst="roundRect">
            <a:avLst>
              <a:gd name="adj" fmla="val 12000"/>
            </a:avLst>
          </a:prstGeom>
          <a:solidFill>
            <a:srgbClr val="E2E8F0"/>
          </a:solidFill>
          <a:ln/>
        </p:spPr>
      </p:sp>
      <p:sp>
        <p:nvSpPr>
          <p:cNvPr id="43" name="Shape 41"/>
          <p:cNvSpPr/>
          <p:nvPr/>
        </p:nvSpPr>
        <p:spPr>
          <a:xfrm>
            <a:off x="4114800" y="4892040"/>
            <a:ext cx="3566160" cy="228600"/>
          </a:xfrm>
          <a:prstGeom prst="roundRect">
            <a:avLst>
              <a:gd name="adj" fmla="val 12000"/>
            </a:avLst>
          </a:prstGeom>
          <a:solidFill>
            <a:srgbClr val="10B981"/>
          </a:solidFill>
          <a:ln/>
        </p:spPr>
      </p:sp>
      <p:sp>
        <p:nvSpPr>
          <p:cNvPr id="44" name="Text 42"/>
          <p:cNvSpPr/>
          <p:nvPr/>
        </p:nvSpPr>
        <p:spPr>
          <a:xfrm>
            <a:off x="11338560" y="48737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完成度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48640" y="534924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40080" y="548640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64748B"/>
          </a:solidFill>
          <a:ln/>
        </p:spPr>
      </p:sp>
      <p:sp>
        <p:nvSpPr>
          <p:cNvPr id="47" name="Text 45"/>
          <p:cNvSpPr/>
          <p:nvPr/>
        </p:nvSpPr>
        <p:spPr>
          <a:xfrm>
            <a:off x="640080" y="5486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1234440" y="54223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通用问题兜底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1234440" y="573328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触发示例：帮我看看XX、帮我查一下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114800" y="542239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能做：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兜底处理任何只读查询，给出简单回答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863840" y="542239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还做不了：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无法精准匹配工具，回答可能不准确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114800" y="5989320"/>
            <a:ext cx="7132320" cy="228600"/>
          </a:xfrm>
          <a:prstGeom prst="roundRect">
            <a:avLst>
              <a:gd name="adj" fmla="val 12000"/>
            </a:avLst>
          </a:prstGeom>
          <a:solidFill>
            <a:srgbClr val="E2E8F0"/>
          </a:solidFill>
          <a:ln/>
        </p:spPr>
      </p:sp>
      <p:sp>
        <p:nvSpPr>
          <p:cNvPr id="53" name="Shape 51"/>
          <p:cNvSpPr/>
          <p:nvPr/>
        </p:nvSpPr>
        <p:spPr>
          <a:xfrm>
            <a:off x="4114800" y="5989320"/>
            <a:ext cx="2139696" cy="228600"/>
          </a:xfrm>
          <a:prstGeom prst="roundRect">
            <a:avLst>
              <a:gd name="adj" fmla="val 12000"/>
            </a:avLst>
          </a:prstGeom>
          <a:solidFill>
            <a:srgbClr val="64748B"/>
          </a:solidFill>
          <a:ln/>
        </p:spPr>
      </p:sp>
      <p:sp>
        <p:nvSpPr>
          <p:cNvPr id="54" name="Text 52"/>
          <p:cNvSpPr/>
          <p:nvPr/>
        </p:nvSpPr>
        <p:spPr>
          <a:xfrm>
            <a:off x="11338560" y="597103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完成度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0" y="6720840"/>
            <a:ext cx="1218895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6" name="Text 54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Lark Connect 智能助手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56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目前的短板在哪里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不是代码问题，是用户感受不到理想效果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143000"/>
            <a:ext cx="502920" cy="320040"/>
          </a:xfrm>
          <a:prstGeom prst="roundRect">
            <a:avLst>
              <a:gd name="adj" fmla="val 14286"/>
            </a:avLst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4300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280160" y="107899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听不懂：用户换个说法，系统就不认识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80160" y="14173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用户说「项目进展如何」可能匹配不到「进度」关键词，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被迫重新措辞，体验打折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0" y="107899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原因：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靠关键词子串匹配来理解意图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949440" y="1078992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升级方向：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改用语义理解——同义词、模糊表达都能识别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210312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2240280"/>
            <a:ext cx="502920" cy="320040"/>
          </a:xfrm>
          <a:prstGeom prst="roundRect">
            <a:avLst>
              <a:gd name="adj" fmla="val 14286"/>
            </a:avLst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24028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280160" y="217627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找不准：项目名称说个简称就匹配不上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80160" y="25146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项目叫「北极星」，用户说「星项目」，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系统找不到对应项目，只能让用户补全名称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0" y="217627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原因：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项目名只做精确子串匹配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949440" y="2176272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升级方向：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改用语义匹配 + 记住用户常用的项目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" y="320040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3337560"/>
            <a:ext cx="502920" cy="320040"/>
          </a:xfrm>
          <a:prstGeom prst="roundRect">
            <a:avLst>
              <a:gd name="adj" fmla="val 14286"/>
            </a:avLst>
          </a:prstGeom>
          <a:solidFill>
            <a:srgbClr val="0EA5E9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33756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280160" y="327355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干太少：复杂问题只能调一个工具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80160" y="361188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用户问「对比A和B项目健康度和逾期任务数」，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系统只能查一个维度的数据，无法组合分析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0" y="327355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原因：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每次只选一个工具调用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949440" y="3273552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升级方向：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改用多工具编排——自动规划需要调哪些工具、按什么顺序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48640" y="429768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" y="4434840"/>
            <a:ext cx="502920" cy="320040"/>
          </a:xfrm>
          <a:prstGeom prst="roundRect">
            <a:avLst>
              <a:gd name="adj" fmla="val 14286"/>
            </a:avLst>
          </a:prstGeom>
          <a:solidFill>
            <a:srgbClr val="EF4444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443484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280160" y="437083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说太糙：回答只是数据堆砌，缺乏分析深度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280160" y="47091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用户拿到一堆原始数据列表，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而不是「结论→风险→建议」的结构化判断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0" y="437083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原因：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大模型把所有数据塞进一个 Prompt 生成回答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949440" y="4370832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升级方向：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结构化输出模板 + 推理链引导 + 前端富文本渲染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8640" y="539496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0080" y="5532120"/>
            <a:ext cx="502920" cy="320040"/>
          </a:xfrm>
          <a:prstGeom prst="roundRect">
            <a:avLst>
              <a:gd name="adj" fmla="val 14286"/>
            </a:avLst>
          </a:prstGeom>
          <a:solidFill>
            <a:srgbClr val="F59E0B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" y="553212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280160" y="546811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没记忆：每次对话都从零开始，不会追问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280160" y="58064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用户上次问过「北极星项目」，下次再问还得说全名；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系统不会主动追问「你想查哪个项目」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572000" y="546811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原因：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无会话记忆，无多轮对话循环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949440" y="5468112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升级方向：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引入会话记忆 + 人机循环（追问→回答→追问）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0" y="6720840"/>
            <a:ext cx="1218895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1" name="Text 39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Lark Connect 智能助手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56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升级路线总览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从「按规则干活」到「能推理、会记忆」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515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终极目标：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用户随便怎么问，系统都能听懂、找准、干完、说清，还能记住偏好、主动提醒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3566160" cy="4572000"/>
          </a:xfrm>
          <a:prstGeom prst="roundRect">
            <a:avLst>
              <a:gd name="adj" fmla="val 2051"/>
            </a:avLst>
          </a:prstGeom>
          <a:solidFill>
            <a:srgbClr val="F1F5F9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783080"/>
            <a:ext cx="3566160" cy="731520"/>
          </a:xfrm>
          <a:prstGeom prst="roundRect">
            <a:avLst>
              <a:gd name="adj" fmla="val 10000"/>
            </a:avLst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8288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第一阶段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20116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听得懂、说得清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926080" y="1874520"/>
            <a:ext cx="1005840" cy="228600"/>
          </a:xfrm>
          <a:prstGeom prst="roundRect">
            <a:avLst>
              <a:gd name="adj" fmla="val 12000"/>
            </a:avLst>
          </a:prstGeom>
          <a:solidFill>
            <a:srgbClr val="FFFFFF">
              <a:alpha val="2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0" y="187452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立即启动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85800" y="26060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1-2 周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29260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业务效果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3200400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1546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同义/模糊表达都能正确识别意图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31520" y="3520440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4747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回答有「结论→风险→建议」的清晰结构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31520" y="3840480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37947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工具选择从关键词匹配升级为语义检索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85800" y="42976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技术手段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31520" y="45262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技能分类：引入 LLM 零样本分类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31520" y="478231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答案生成：Prompt 加入推理链引导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31520" y="5038344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工具选择：语义向量检索 top-k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069080" y="34747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4748B"/>
                </a:solidFill>
              </a:rPr>
              <a:t>→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4389120" y="1783080"/>
            <a:ext cx="3566160" cy="4572000"/>
          </a:xfrm>
          <a:prstGeom prst="roundRect">
            <a:avLst>
              <a:gd name="adj" fmla="val 2051"/>
            </a:avLst>
          </a:prstGeom>
          <a:solidFill>
            <a:srgbClr val="F1F5F9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89120" y="1783080"/>
            <a:ext cx="3566160" cy="731520"/>
          </a:xfrm>
          <a:prstGeom prst="roundRect">
            <a:avLst>
              <a:gd name="adj" fmla="val 10000"/>
            </a:avLst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4526280" y="18288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第二阶段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26280" y="20116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找得准、干得多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766560" y="1874520"/>
            <a:ext cx="1005840" cy="228600"/>
          </a:xfrm>
          <a:prstGeom prst="roundRect">
            <a:avLst>
              <a:gd name="adj" fmla="val 12000"/>
            </a:avLst>
          </a:prstGeom>
          <a:solidFill>
            <a:srgbClr val="FFFFFF">
              <a:alpha val="25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766560" y="187452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中期推进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526280" y="26060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1-2 月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26280" y="29260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业务效果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0" y="3200400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5" name="Text 33"/>
          <p:cNvSpPr/>
          <p:nvPr/>
        </p:nvSpPr>
        <p:spPr>
          <a:xfrm>
            <a:off x="4754880" y="31546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简称、模糊项目名也能自动匹配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0" y="3520440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7" name="Text 35"/>
          <p:cNvSpPr/>
          <p:nvPr/>
        </p:nvSpPr>
        <p:spPr>
          <a:xfrm>
            <a:off x="4754880" y="34747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复杂问题能组合多个工具分步完成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72000" y="3840480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9" name="Text 37"/>
          <p:cNvSpPr/>
          <p:nvPr/>
        </p:nvSpPr>
        <p:spPr>
          <a:xfrm>
            <a:off x="4754880" y="37947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用户不用每次重复说项目名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572000" y="4160520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1" name="Text 39"/>
          <p:cNvSpPr/>
          <p:nvPr/>
        </p:nvSpPr>
        <p:spPr>
          <a:xfrm>
            <a:off x="4754880" y="41148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前端能展示表格、卡片等富文本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526280" y="46177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技术手段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572000" y="48463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项目范围：语义匹配 + 会话记忆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572000" y="510235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工具编排：ReAct 多步规划模式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572000" y="5358384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答案输出：JSON Schema 结构化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572000" y="5614416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流程控制：条件分支 + 追问机制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909560" y="34747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4748B"/>
                </a:solidFill>
              </a:rPr>
              <a:t>→</a:t>
            </a:r>
            <a:endParaRPr lang="en-US" sz="2200" dirty="0"/>
          </a:p>
        </p:txBody>
      </p:sp>
      <p:sp>
        <p:nvSpPr>
          <p:cNvPr id="48" name="Shape 46"/>
          <p:cNvSpPr/>
          <p:nvPr/>
        </p:nvSpPr>
        <p:spPr>
          <a:xfrm>
            <a:off x="8229600" y="1783080"/>
            <a:ext cx="3566160" cy="4572000"/>
          </a:xfrm>
          <a:prstGeom prst="roundRect">
            <a:avLst>
              <a:gd name="adj" fmla="val 2051"/>
            </a:avLst>
          </a:prstGeom>
          <a:solidFill>
            <a:srgbClr val="F1F5F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229600" y="1783080"/>
            <a:ext cx="3566160" cy="731520"/>
          </a:xfrm>
          <a:prstGeom prst="roundRect">
            <a:avLst>
              <a:gd name="adj" fmla="val 10000"/>
            </a:avLst>
          </a:prstGeom>
          <a:solidFill>
            <a:srgbClr val="0EA5E9"/>
          </a:solidFill>
          <a:ln/>
        </p:spPr>
      </p:sp>
      <p:sp>
        <p:nvSpPr>
          <p:cNvPr id="50" name="Text 48"/>
          <p:cNvSpPr/>
          <p:nvPr/>
        </p:nvSpPr>
        <p:spPr>
          <a:xfrm>
            <a:off x="8366760" y="18288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第三阶段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8366760" y="20116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会记忆、能预判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10607040" y="1874520"/>
            <a:ext cx="1005840" cy="228600"/>
          </a:xfrm>
          <a:prstGeom prst="roundRect">
            <a:avLst>
              <a:gd name="adj" fmla="val 12000"/>
            </a:avLst>
          </a:prstGeom>
          <a:solidFill>
            <a:srgbClr val="FFFFFF">
              <a:alpha val="25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10607040" y="187452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远期规划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8366760" y="26060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3-6 月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8366760" y="29260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业务效果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8412480" y="3200400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7" name="Text 55"/>
          <p:cNvSpPr/>
          <p:nvPr/>
        </p:nvSpPr>
        <p:spPr>
          <a:xfrm>
            <a:off x="8595360" y="31546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系统记住用户常用项目和偏好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8412480" y="3520440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9" name="Text 57"/>
          <p:cNvSpPr/>
          <p:nvPr/>
        </p:nvSpPr>
        <p:spPr>
          <a:xfrm>
            <a:off x="8595360" y="34747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自动发现用户的新需求模式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8412480" y="3840480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61" name="Text 59"/>
          <p:cNvSpPr/>
          <p:nvPr/>
        </p:nvSpPr>
        <p:spPr>
          <a:xfrm>
            <a:off x="8595360" y="37947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接入行业知识库，回答更有深度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8412480" y="4160520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63" name="Text 61"/>
          <p:cNvSpPr/>
          <p:nvPr/>
        </p:nvSpPr>
        <p:spPr>
          <a:xfrm>
            <a:off x="8595360" y="41148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A/B 测试自动评估回答质量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8366760" y="46177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技术手段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8412480" y="48463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用户画像与偏好记忆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8412480" y="510235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自动技能发现（从历史日志聚类）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8412480" y="5358384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领域知识库 RAG 接入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8412480" y="5614416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A/B 测试与自动评估体系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0" y="6720840"/>
            <a:ext cx="1218895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0" name="Text 68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Lark Connect 智能助手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56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大模块升级对照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每个模块：现在怎么做 → 升级后怎么做 → 业务效果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1371600" cy="365760"/>
          </a:xfrm>
          <a:prstGeom prst="roundRect">
            <a:avLst>
              <a:gd name="adj" fmla="val 7500"/>
            </a:avLst>
          </a:prstGeom>
          <a:solidFill>
            <a:srgbClr val="1A56D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058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920240" y="1005840"/>
            <a:ext cx="3200400" cy="365760"/>
          </a:xfrm>
          <a:prstGeom prst="roundRect">
            <a:avLst>
              <a:gd name="adj" fmla="val 7500"/>
            </a:avLst>
          </a:prstGeom>
          <a:solidFill>
            <a:srgbClr val="1A56DB"/>
          </a:solidFill>
          <a:ln/>
        </p:spPr>
      </p:sp>
      <p:sp>
        <p:nvSpPr>
          <p:cNvPr id="8" name="Text 6"/>
          <p:cNvSpPr/>
          <p:nvPr/>
        </p:nvSpPr>
        <p:spPr>
          <a:xfrm>
            <a:off x="1920240" y="10058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现在怎么做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120640" y="1005840"/>
            <a:ext cx="3200400" cy="365760"/>
          </a:xfrm>
          <a:prstGeom prst="roundRect">
            <a:avLst>
              <a:gd name="adj" fmla="val 7500"/>
            </a:avLst>
          </a:prstGeom>
          <a:solidFill>
            <a:srgbClr val="1A56DB"/>
          </a:solidFill>
          <a:ln/>
        </p:spPr>
      </p:sp>
      <p:sp>
        <p:nvSpPr>
          <p:cNvPr id="10" name="Text 8"/>
          <p:cNvSpPr/>
          <p:nvPr/>
        </p:nvSpPr>
        <p:spPr>
          <a:xfrm>
            <a:off x="5120640" y="10058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升级后怎么做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321040" y="1005840"/>
            <a:ext cx="2560320" cy="365760"/>
          </a:xfrm>
          <a:prstGeom prst="roundRect">
            <a:avLst>
              <a:gd name="adj" fmla="val 7500"/>
            </a:avLst>
          </a:prstGeom>
          <a:solidFill>
            <a:srgbClr val="1A56DB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1005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业务效果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1463040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EF4444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146304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意图理解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920240" y="1463040"/>
            <a:ext cx="3200400" cy="914400"/>
          </a:xfrm>
          <a:prstGeom prst="roundRect">
            <a:avLst>
              <a:gd name="adj" fmla="val 8000"/>
            </a:avLst>
          </a:prstGeom>
          <a:solidFill>
            <a:srgbClr val="FFF5F5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11680" y="150876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关键词子串匹配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说「进度」才能触发，说「进展」就漏掉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120640" y="1463040"/>
            <a:ext cx="3200400" cy="914400"/>
          </a:xfrm>
          <a:prstGeom prst="roundRect">
            <a:avLst>
              <a:gd name="adj" fmla="val 8000"/>
            </a:avLst>
          </a:prstGeom>
          <a:solidFill>
            <a:srgbClr val="F0FF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0" y="150876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语义分类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换个说法也能识别，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不确定时主动追问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321040" y="1463040"/>
            <a:ext cx="25603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0" y="15087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意图识别准确率大幅提升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46320" y="1737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8640" y="2468880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0EA5E9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246888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项目匹配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920240" y="2468880"/>
            <a:ext cx="3200400" cy="914400"/>
          </a:xfrm>
          <a:prstGeom prst="roundRect">
            <a:avLst>
              <a:gd name="adj" fmla="val 8000"/>
            </a:avLst>
          </a:prstGeom>
          <a:solidFill>
            <a:srgbClr val="FFF5F5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11680" y="251460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项目名精确子串匹配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简称、别名、缩写都不认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120640" y="2468880"/>
            <a:ext cx="3200400" cy="914400"/>
          </a:xfrm>
          <a:prstGeom prst="roundRect">
            <a:avLst>
              <a:gd name="adj" fmla="val 8000"/>
            </a:avLst>
          </a:prstGeom>
          <a:solidFill>
            <a:srgbClr val="F0FF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12080" y="251460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语义匹配 + 记住偏好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简称也能匹配，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默认回到用户常用项目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321040" y="2468880"/>
            <a:ext cx="25603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12480" y="25146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追问减少，体验更顺畅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46320" y="2743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→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48640" y="3474720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347472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工具选择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920240" y="3474720"/>
            <a:ext cx="3200400" cy="914400"/>
          </a:xfrm>
          <a:prstGeom prst="roundRect">
            <a:avLst>
              <a:gd name="adj" fmla="val 8000"/>
            </a:avLst>
          </a:prstGeom>
          <a:solidFill>
            <a:srgbClr val="FFF5F5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011680" y="352044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关键词打分选一个工具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复杂问题只查一个维度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120640" y="3474720"/>
            <a:ext cx="3200400" cy="914400"/>
          </a:xfrm>
          <a:prstGeom prst="roundRect">
            <a:avLst>
              <a:gd name="adj" fmla="val 8000"/>
            </a:avLst>
          </a:prstGeom>
          <a:solidFill>
            <a:srgbClr val="F0FF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12080" y="352044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多步规划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自动组合多个工具，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按顺序逐步完成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321040" y="3474720"/>
            <a:ext cx="25603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12480" y="35204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能回答更复杂、更综合的问题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846320" y="3749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→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48640" y="4480560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/>
        </p:spPr>
      </p:sp>
      <p:sp>
        <p:nvSpPr>
          <p:cNvPr id="41" name="Text 39"/>
          <p:cNvSpPr/>
          <p:nvPr/>
        </p:nvSpPr>
        <p:spPr>
          <a:xfrm>
            <a:off x="548640" y="448056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答案生成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1920240" y="4480560"/>
            <a:ext cx="3200400" cy="914400"/>
          </a:xfrm>
          <a:prstGeom prst="roundRect">
            <a:avLst>
              <a:gd name="adj" fmla="val 8000"/>
            </a:avLst>
          </a:prstGeom>
          <a:solidFill>
            <a:srgbClr val="FFF5F5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011680" y="452628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大模型自由组织回答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纯文本堆砌，没有结构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120640" y="4480560"/>
            <a:ext cx="3200400" cy="914400"/>
          </a:xfrm>
          <a:prstGeom prst="roundRect">
            <a:avLst>
              <a:gd name="adj" fmla="val 8000"/>
            </a:avLst>
          </a:prstGeom>
          <a:solidFill>
            <a:srgbClr val="F0FF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12080" y="452628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结构化输出模板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结论→风险→建议→数据范围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前端可渲染表格和卡片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8321040" y="4480560"/>
            <a:ext cx="25603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412480" y="45262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回答有逻辑、可读性强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846320" y="4754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→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548640" y="5486400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/>
        </p:spPr>
      </p:sp>
      <p:sp>
        <p:nvSpPr>
          <p:cNvPr id="50" name="Text 48"/>
          <p:cNvSpPr/>
          <p:nvPr/>
        </p:nvSpPr>
        <p:spPr>
          <a:xfrm>
            <a:off x="548640" y="548640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对话流程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1920240" y="5486400"/>
            <a:ext cx="3200400" cy="914400"/>
          </a:xfrm>
          <a:prstGeom prst="roundRect">
            <a:avLst>
              <a:gd name="adj" fmla="val 8000"/>
            </a:avLst>
          </a:prstGeom>
          <a:solidFill>
            <a:srgbClr val="FFF5F5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011680" y="553212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线性流水线，一问一答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不会追问，没有循环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120640" y="5486400"/>
            <a:ext cx="3200400" cy="914400"/>
          </a:xfrm>
          <a:prstGeom prst="roundRect">
            <a:avLst>
              <a:gd name="adj" fmla="val 8000"/>
            </a:avLst>
          </a:prstGeom>
          <a:solidFill>
            <a:srgbClr val="F0FF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212080" y="553212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条件分支 + 追问循环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不确定就追问，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复杂问题分步引导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8321040" y="5486400"/>
            <a:ext cx="25603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412480" y="55321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对话更像真人助理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4846320" y="5760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→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0" y="6720840"/>
            <a:ext cx="1218895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9" name="Text 57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Lark Connect 智能助手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56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优先行动清单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请老板确认优先级和资源投入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立即要做（1-2 周）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2286000" cy="2743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46304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600200"/>
            <a:ext cx="457200" cy="320040"/>
          </a:xfrm>
          <a:prstGeom prst="roundRect">
            <a:avLst>
              <a:gd name="adj" fmla="val 14286"/>
            </a:avLst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6002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153619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意图理解升级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88720" y="184708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从关键词匹配改为语义分类，让系统真正「听懂」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0" y="1536192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效果：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用户不再需要反复措辞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863840" y="16916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负责人：智能层开发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228600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2423160"/>
            <a:ext cx="457200" cy="320040"/>
          </a:xfrm>
          <a:prstGeom prst="roundRect">
            <a:avLst>
              <a:gd name="adj" fmla="val 14286"/>
            </a:avLst>
          </a:prstGeom>
          <a:solidFill>
            <a:srgbClr val="E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423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88720" y="235915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回答结构化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88720" y="267004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回答必须遵循「结论→风险→建议→数据范围」模板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114800" y="2359152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效果：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用户拿到的是判断而不是数据堆砌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负责人：智能层+前端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" y="310896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3246120"/>
            <a:ext cx="457200" cy="320040"/>
          </a:xfrm>
          <a:prstGeom prst="roundRect">
            <a:avLst>
              <a:gd name="adj" fmla="val 14286"/>
            </a:avLst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2461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88720" y="318211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工具语义检索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88720" y="349300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从关键词打分改为语义匹配 top-k，再由模型精选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114800" y="3182112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效果：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工具选择更准，减少无关调用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863840" y="33375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负责人：智能层开发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8640" y="40233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中期推进（1-2 月）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48640" y="4315968"/>
            <a:ext cx="2286000" cy="274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0" name="Shape 28"/>
          <p:cNvSpPr/>
          <p:nvPr/>
        </p:nvSpPr>
        <p:spPr>
          <a:xfrm>
            <a:off x="640080" y="4526280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822960" y="44348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项目语义匹配 + 会话记忆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114800" y="4434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简称也能匹配项目，记住用户偏好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863840" y="44348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追问减少 60%+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0080" y="4983480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5" name="Text 33"/>
          <p:cNvSpPr/>
          <p:nvPr/>
        </p:nvSpPr>
        <p:spPr>
          <a:xfrm>
            <a:off x="822960" y="4892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多步工具编排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114800" y="4892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自动组合多个工具，分步完成复杂查询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863840" y="48920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能回答的综合问题数翻倍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40080" y="5440680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9" name="Text 37"/>
          <p:cNvSpPr/>
          <p:nvPr/>
        </p:nvSpPr>
        <p:spPr>
          <a:xfrm>
            <a:off x="822960" y="53492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追问循环机制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114800" y="5349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不确定时主动追问用户，而不是随便猜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863840" y="5349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误判和无效回答大幅减少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40080" y="5897880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3" name="Text 41"/>
          <p:cNvSpPr/>
          <p:nvPr/>
        </p:nvSpPr>
        <p:spPr>
          <a:xfrm>
            <a:off x="822960" y="58064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前端富文本渲染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114800" y="5806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表格、卡片、图表替代纯文本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863840" y="5806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信息一目了然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0" y="6720840"/>
            <a:ext cx="1218895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7" name="Text 4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Lark Connect 智能助手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56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投入产出分析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每阶段做什么、花多少时间、带来什么效果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2011680" cy="365760"/>
          </a:xfrm>
          <a:prstGeom prst="roundRect">
            <a:avLst>
              <a:gd name="adj" fmla="val 7500"/>
            </a:avLst>
          </a:prstGeom>
          <a:solidFill>
            <a:srgbClr val="1A56D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05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60320" y="1005840"/>
            <a:ext cx="2560320" cy="365760"/>
          </a:xfrm>
          <a:prstGeom prst="roundRect">
            <a:avLst>
              <a:gd name="adj" fmla="val 7500"/>
            </a:avLst>
          </a:prstGeom>
          <a:solidFill>
            <a:srgbClr val="1A56DB"/>
          </a:solidFill>
          <a:ln/>
        </p:spPr>
      </p:sp>
      <p:sp>
        <p:nvSpPr>
          <p:cNvPr id="8" name="Text 6"/>
          <p:cNvSpPr/>
          <p:nvPr/>
        </p:nvSpPr>
        <p:spPr>
          <a:xfrm>
            <a:off x="2560320" y="1005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投入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120640" y="1005840"/>
            <a:ext cx="3474720" cy="365760"/>
          </a:xfrm>
          <a:prstGeom prst="roundRect">
            <a:avLst>
              <a:gd name="adj" fmla="val 7500"/>
            </a:avLst>
          </a:prstGeom>
          <a:solidFill>
            <a:srgbClr val="1A56DB"/>
          </a:solidFill>
          <a:ln/>
        </p:spPr>
      </p:sp>
      <p:sp>
        <p:nvSpPr>
          <p:cNvPr id="10" name="Text 8"/>
          <p:cNvSpPr/>
          <p:nvPr/>
        </p:nvSpPr>
        <p:spPr>
          <a:xfrm>
            <a:off x="5120640" y="10058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595360" y="1005840"/>
            <a:ext cx="2468880" cy="365760"/>
          </a:xfrm>
          <a:prstGeom prst="roundRect">
            <a:avLst>
              <a:gd name="adj" fmla="val 7500"/>
            </a:avLst>
          </a:prstGeom>
          <a:solidFill>
            <a:srgbClr val="1A56DB"/>
          </a:solidFill>
          <a:ln/>
        </p:spPr>
      </p:sp>
      <p:sp>
        <p:nvSpPr>
          <p:cNvPr id="12" name="Text 10"/>
          <p:cNvSpPr/>
          <p:nvPr/>
        </p:nvSpPr>
        <p:spPr>
          <a:xfrm>
            <a:off x="8595360" y="10058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1463040"/>
            <a:ext cx="2011680" cy="1554480"/>
          </a:xfrm>
          <a:prstGeom prst="roundRect">
            <a:avLst>
              <a:gd name="adj" fmla="val 4706"/>
            </a:avLst>
          </a:prstGeom>
          <a:solidFill>
            <a:srgbClr val="EF4444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164592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第一阶段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1-2周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560320" y="146304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F1F5F9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51760" y="164592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人 x 2 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 Prompt + 分类逻辑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120640" y="1463040"/>
            <a:ext cx="3474720" cy="1554480"/>
          </a:xfrm>
          <a:prstGeom prst="roundRect">
            <a:avLst>
              <a:gd name="adj" fmla="val 4706"/>
            </a:avLst>
          </a:prstGeom>
          <a:solidFill>
            <a:srgbClr val="F0FF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0" y="164592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意图识别准确率提升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回答有结构、不再是数据堆砌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595360" y="1463040"/>
            <a:ext cx="2468880" cy="1554480"/>
          </a:xfrm>
          <a:prstGeom prst="roundRect">
            <a:avLst>
              <a:gd name="adj" fmla="val 4706"/>
            </a:avLst>
          </a:prstGeom>
          <a:solidFill>
            <a:srgbClr val="F1F5F9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0" y="164592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只改智能层逻辑，不影响安全边界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3108960"/>
            <a:ext cx="2011680" cy="1554480"/>
          </a:xfrm>
          <a:prstGeom prst="roundRect">
            <a:avLst>
              <a:gd name="adj" fmla="val 4706"/>
            </a:avLst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29184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第二阶段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1-2月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560320" y="310896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F1F5F9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51760" y="329184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1-2 人 x 1-2 月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重构编排引擎 + 前端升级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120640" y="3108960"/>
            <a:ext cx="3474720" cy="1554480"/>
          </a:xfrm>
          <a:prstGeom prst="roundRect">
            <a:avLst>
              <a:gd name="adj" fmla="val 4706"/>
            </a:avLst>
          </a:prstGeom>
          <a:solidFill>
            <a:srgbClr val="F0FF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12080" y="329184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能回答综合问题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追问减少、体验像真人助理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前端可展示表格/卡片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595360" y="3108960"/>
            <a:ext cx="2468880" cy="1554480"/>
          </a:xfrm>
          <a:prstGeom prst="roundRect">
            <a:avLst>
              <a:gd name="adj" fmla="val 4706"/>
            </a:avLst>
          </a:prstGeom>
          <a:solidFill>
            <a:srgbClr val="F1F5F9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0" y="329184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 Redis + 结构化 Schema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前端需配合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4754880"/>
            <a:ext cx="2011680" cy="1554480"/>
          </a:xfrm>
          <a:prstGeom prst="roundRect">
            <a:avLst>
              <a:gd name="adj" fmla="val 4706"/>
            </a:avLst>
          </a:prstGeom>
          <a:solidFill>
            <a:srgbClr val="0EA5E9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493776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第三阶段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3-6月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560320" y="475488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F1F5F9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51760" y="493776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人 x 3-6 月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 + 自动评估 + 主动监控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120640" y="4754880"/>
            <a:ext cx="3474720" cy="1554480"/>
          </a:xfrm>
          <a:prstGeom prst="roundRect">
            <a:avLst>
              <a:gd name="adj" fmla="val 4706"/>
            </a:avLst>
          </a:prstGeom>
          <a:solidFill>
            <a:srgbClr val="F0FF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12080" y="493776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记住用户偏好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自动发现新需求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主动推送风险预警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回答有行业深度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595360" y="4754880"/>
            <a:ext cx="2468880" cy="1554480"/>
          </a:xfrm>
          <a:prstGeom prst="roundRect">
            <a:avLst>
              <a:gd name="adj" fmla="val 4706"/>
            </a:avLst>
          </a:prstGeom>
          <a:solidFill>
            <a:srgbClr val="F1F5F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86800" y="493776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较高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依赖数据积累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需要标注和训练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48640" y="566928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/>
        </p:spPr>
      </p:sp>
      <p:sp>
        <p:nvSpPr>
          <p:cNvPr id="38" name="Text 36"/>
          <p:cNvSpPr/>
          <p:nvPr/>
        </p:nvSpPr>
        <p:spPr>
          <a:xfrm>
            <a:off x="731520" y="57150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关键决策：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第一阶段投入最小、风险最低、效果最明显——建议优先批准启动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0" y="6720840"/>
            <a:ext cx="1218895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0" name="Text 38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Lark Connect 智能助手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56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需要老板确认的决策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技术选型不影响业务目标，但需要提前对齐方向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F1F5F9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51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6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大模型服务是否只依赖 DeepSeek？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371600"/>
            <a:ext cx="4846320" cy="320040"/>
          </a:xfrm>
          <a:prstGeom prst="roundRect">
            <a:avLst>
              <a:gd name="adj" fmla="val 11429"/>
            </a:avLst>
          </a:prstGeom>
          <a:solidFill>
            <a:srgbClr val="E2E8F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37160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方案A：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继续用 DeepSeek（便宜，但依赖单一供应商）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719072"/>
            <a:ext cx="4846320" cy="320040"/>
          </a:xfrm>
          <a:prstGeom prst="roundRect">
            <a:avLst>
              <a:gd name="adj" fmla="val 11429"/>
            </a:avLst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71907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方案B：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准备多模型备份（OpenAI/Claude 作为降级备选）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760720" y="105156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建议：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短期继续 DeepSeek，中期引入多模型备份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760720" y="150876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业务影响：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影响回答质量和系统可用性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237744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F1F5F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423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会话记忆存在哪里？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2743200"/>
            <a:ext cx="4846320" cy="320040"/>
          </a:xfrm>
          <a:prstGeom prst="roundRect">
            <a:avLst>
              <a:gd name="adj" fmla="val 11429"/>
            </a:avLst>
          </a:prstGeom>
          <a:solidFill>
            <a:srgbClr val="E2E8F0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274320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方案A：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由飞书后端透传历史消息（简单，耦合度高）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31520" y="3090672"/>
            <a:ext cx="4846320" cy="320040"/>
          </a:xfrm>
          <a:prstGeom prst="roundRect">
            <a:avLst>
              <a:gd name="adj" fmla="val 11429"/>
            </a:avLst>
          </a:prstGeom>
          <a:solidFill>
            <a:srgbClr val="E2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09067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方案B：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智能层自建 Redis 缓存（独立，需要新增基础设施）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760720" y="242316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建议：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中期自建 Redis，让智能层独立管理对话状态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760720" y="288036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业务影响：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影响追问体验和数据安全边界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" y="374904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F1F5F9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3794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结构化回答格式怎么定？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1520" y="4114800"/>
            <a:ext cx="4846320" cy="320040"/>
          </a:xfrm>
          <a:prstGeom prst="roundRect">
            <a:avLst>
              <a:gd name="adj" fmla="val 11429"/>
            </a:avLst>
          </a:prstGeom>
          <a:solidFill>
            <a:srgbClr val="E2E8F0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411480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方案A：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 JSON 格式（灵活，但前端需要适配）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31520" y="4462272"/>
            <a:ext cx="4846320" cy="320040"/>
          </a:xfrm>
          <a:prstGeom prst="roundRect">
            <a:avLst>
              <a:gd name="adj" fmla="val 11429"/>
            </a:avLst>
          </a:prstGeom>
          <a:solidFill>
            <a:srgbClr val="E2E8F0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446227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方案B：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每个技能固定输出模板（标准化，前端渲染简单）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760720" y="379476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建议：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每个技能绑定固定输出模板，兼顾灵活和标准化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760720" y="425196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业务影响：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影响前端展示效果和开发工作量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8640" y="512064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F1F5F9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51663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多轮对话是否支持？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31520" y="5486400"/>
            <a:ext cx="4846320" cy="320040"/>
          </a:xfrm>
          <a:prstGeom prst="roundRect">
            <a:avLst>
              <a:gd name="adj" fmla="val 11429"/>
            </a:avLst>
          </a:prstGeom>
          <a:solidFill>
            <a:srgbClr val="E2E8F0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" y="548640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方案A：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每次都是全新对话（简单，但体验差）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31520" y="5833872"/>
            <a:ext cx="4846320" cy="320040"/>
          </a:xfrm>
          <a:prstGeom prst="roundRect">
            <a:avLst>
              <a:gd name="adj" fmla="val 11429"/>
            </a:avLst>
          </a:prstGeom>
          <a:solidFill>
            <a:srgbClr val="E2E8F0"/>
          </a:solidFill>
          <a:ln/>
        </p:spPr>
      </p:sp>
      <p:sp>
        <p:nvSpPr>
          <p:cNvPr id="34" name="Text 32"/>
          <p:cNvSpPr/>
          <p:nvPr/>
        </p:nvSpPr>
        <p:spPr>
          <a:xfrm>
            <a:off x="822960" y="583387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方案B：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 thread 恢复（复杂，但体验好）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760720" y="516636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建议：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中期引入 thread 机制，从简单追问开始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760720" y="562356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业务影响：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直接影响用户对话体验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0" y="6720840"/>
            <a:ext cx="1218895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8" name="Text 36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Lark Connect 智能助手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1A56DB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0" y="4572000"/>
            <a:ext cx="2743200" cy="2743200"/>
          </a:xfrm>
          <a:prstGeom prst="ellipse">
            <a:avLst/>
          </a:prstGeom>
          <a:solidFill>
            <a:srgbClr val="0EA5E9">
              <a:alpha val="1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31520" y="914400"/>
            <a:ext cx="27432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09728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1E293B">
              <a:alpha val="50000"/>
            </a:srgbClr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097280"/>
            <a:ext cx="73152" cy="10058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18872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我们已经搭建了飞书智能助手的基本框架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148132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个技能覆盖项目管理的常见场景——施工日报、项目状态、任务风险、周报生成、通用兜底。用户一句话就能查到数据。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19456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1E293B">
              <a:alpha val="50000"/>
            </a:srgbClr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194560"/>
            <a:ext cx="73152" cy="1005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28600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目前最大的短板是「不够聪明」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257860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听不懂换说法、找不准简称、干不了复杂查询、说不出深度分析、记不住用户偏好。这些都是规则驱动的固有限制。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29184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1E293B">
              <a:alpha val="50000"/>
            </a:srgbClr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291840"/>
            <a:ext cx="73152" cy="10058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38328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升级方向明确：从「按规则干活」到「能推理会记忆」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" y="367588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三个阶段：先让它听得懂、说得清（1-2周），再让它找得准、干得多（1-2月），最后让它会记忆、能预判（3-6月）。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38912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1E293B">
              <a:alpha val="50000"/>
            </a:srgbClr>
          </a:solidFill>
          <a:ln w="19050">
            <a:solidFill>
              <a:srgbClr val="1A56D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389120"/>
            <a:ext cx="73152" cy="100584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48056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6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第一阶段投入最小、效果最明显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7240" y="477316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只改智能层逻辑，不影响安全边界；投入 1 人 2 周，意图识别准确率和回答质量立刻提升。建议优先批准。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62356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F59E0B">
              <a:alpha val="30000"/>
            </a:srgbClr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566928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请老板确认：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① 是否批准第一阶段启动？ ② 4 个技术决策的方向是否认可？ ③ 第二阶段的 Redis 等基础设施是否允许引入？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0" y="6720840"/>
            <a:ext cx="1218895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Lark Connect 智能助手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Primelayer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Lark Connect 智能助手 · 能力盘点与升级路线</dc:subject>
  <dc:creator>Lark Connect Team</dc:creator>
  <cp:lastModifiedBy>Lark Connect Team</cp:lastModifiedBy>
  <cp:revision>1</cp:revision>
  <dcterms:created xsi:type="dcterms:W3CDTF">2026-06-30T17:35:57Z</dcterms:created>
  <dcterms:modified xsi:type="dcterms:W3CDTF">2026-06-30T17:35:57Z</dcterms:modified>
</cp:coreProperties>
</file>