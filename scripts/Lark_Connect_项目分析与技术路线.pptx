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12188952" cy="548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0F4C81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1371600"/>
            <a:ext cx="1371600" cy="1371600"/>
          </a:xfrm>
          <a:prstGeom prst="ellipse">
            <a:avLst/>
          </a:prstGeom>
          <a:solidFill>
            <a:srgbClr val="00A6A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Gateway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2004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项目分析  |  优化建议  |  方法论一致性设计  |  技术路线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+ Primelayer MCP + Feishu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/ Spring Boot 3.3.7  ·  Python FastAPI / LangGraph  ·  Vue 3 / Ant Design Vue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463040" y="129844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项目定位与核心价值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5544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打通 Primelayer 与飞书，自然语言查询项目数据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463040" y="216712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2130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系统架构与模块职责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4231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安全边界 + Python 智能层 + Vue 管理后台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63040" y="303580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核心数据流与 Agent 状态机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291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步 LangGraph 流水线，4+1 技能路由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463040" y="390448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3867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当前问题与优化建议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160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P0/P1/P2 分级问题清单与修复方向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754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463040" y="477316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方法论一致性设计方案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5029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同一问题不同时间 → 一致结论的保障机制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623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463040" y="5641848"/>
            <a:ext cx="27432" cy="51206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4" name="Text 32"/>
          <p:cNvSpPr/>
          <p:nvPr/>
        </p:nvSpPr>
        <p:spPr>
          <a:xfrm>
            <a:off x="1645920" y="5605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技术路线与演进规划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45920" y="58978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→ 工程化 → 通用 Agent 平台三阶段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项目定位与核心价值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What does this project do?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F0F4F8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身份与权限链路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feishu_open_id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19456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primelayer_user_id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00A6A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971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E8485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mcp_token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188720"/>
            <a:ext cx="5760720" cy="4937760"/>
          </a:xfrm>
          <a:prstGeom prst="roundRect">
            <a:avLst>
              <a:gd name="adj" fmla="val 148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核心事实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7190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打通 Primelayer（地产科技项目管理系统）与飞书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2402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176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飞书用户用自然语言查询项目数据、待办、风险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633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底层大模型：DeepSeek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090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支持私聊单项目 / 私聊跨项目 / 群聊项目上下文查询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6118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547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异步任务执行 + 飞书异步回复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0050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三级审计：任务 / 工具调用 / 模型调用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5262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462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AES-GCM 密文存储，永不传入智能层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9834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919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一期目标：带管理后台的 Agent Gateway MVP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5440680"/>
            <a:ext cx="109728" cy="10972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5376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后续演进：通用 Agent 平台（多入口、多步工具、主动监控）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74904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A1A2E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8872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自然语言即查询入口，降低 Primelayer 使用门槛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872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后端是唯一安全边界，Token 不出后端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8720" y="5394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三级审计齐全，每次查询可追溯可回放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系统架构与模块职责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Three-Module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0F4F8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90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/ Spring Boot 3.3.7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飞书事件接收与解析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权限校验与用户绑定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解密与调用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 异步任务编排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集成（plan/summarize）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三级审计日志写入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4C81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166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管理后台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18872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0F4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1887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0A6A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agent-service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1490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FastAPI / LangGraph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0A6A6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技能路由（关键词匹配分类）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880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项目范围选择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工具调用规划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794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答案摘要生成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2519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质量检查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4709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只收脱敏上下文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5166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•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0" y="5166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永不进入此服务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0" y="118872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F0F4F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0" y="11887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8823960" y="1207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admin-web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823960" y="1490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/ Ant Design Vue 4 / Vite 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86968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管理后台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869680" y="2423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098280" y="2423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用户绑定管理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869680" y="2880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9828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 MCP Token 管理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869680" y="3337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09828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飞书群-项目绑定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869680" y="3794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09828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异步任务监控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869680" y="42519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09828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三级审计日志可视化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869680" y="47091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09828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飞书消息记录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869680" y="51663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</a:rPr>
              <a:t>•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098280" y="5166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测试中心 / 人员配置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 HTTP / JSON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3816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 HTTP / JSON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核心数据流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End-to-End Message Processing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飞书消息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FeishuEventController 接收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4884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异步入队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6908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AgentWorker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消费消息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8932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848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TokenResolver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解密 MCP Token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0956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4C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AgentOrchestrator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编排核心流程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82980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14984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A6A6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984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49840" y="1755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技能路由 + 工具规划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toolCalls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84855">
              <a:alpha val="85000"/>
            </a:srgbClr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McpAdapter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 Token 调 Primelayer MCP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060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66928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A6A6">
              <a:alpha val="85000"/>
            </a:srgbClr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工具结果回传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 Summarization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6948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13816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5A623">
              <a:alpha val="85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FeishuClient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异步回复飞书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73836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B8D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149840" y="2834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4C81">
              <a:alpha val="85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984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AuditService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4984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写三级审计日志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0233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关键设计特征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1520" y="4480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4400" y="4480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异步解耦：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0312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飞书消息 → RabbitMQ → Worker，消息接收与处理解耦，避免超时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49834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4400" y="4983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安全边界：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103120" y="4983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仅在 Java 后端解密使用，agent-service 只收脱敏上下文（openId / 项目列表 / 工具定义）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54864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14400" y="5486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多轮编排：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103120" y="5486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MAX_AGENT_SERVICE_ROUNDS = 4，支持工具调用 → 结果回传 → 再规划的循环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35040" y="44805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17920" y="4480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降级策略：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0664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agent-service 不可用时回退到 Legacy DeepSeek plan/summarize 链路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35040" y="49834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6A6"/>
                </a:solidFill>
              </a:rPr>
              <a:t>▸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4983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实时验证：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06640" y="4983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配置状态检查支持实时 listTools 验证 Token 有效性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状态机与技能体系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LangGraph 5-Step Pipeline + 5 Skills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A6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classify_skill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关键词匹配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技能分类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1460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8036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select_project_scope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确定查询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项目范围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1208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F4C81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plan_tool_calls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选择只读工具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构建调用参数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4380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A6A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summarize_answer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4380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模型摘要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或确定性摘要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09760" y="1371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875520" y="11887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D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0" y="1536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追加数据范围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声明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技能体系（5 个 SkillDefinition）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20040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技能名称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触发关键词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允许的只读工具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项目报告与施工情况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施工日报、质量安全、安全隐患、进度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get_base_form_info, match_form_resource, query_form_data_list...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project_status_qa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项目状态问答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项目怎么样、当前进度、健康度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query_project_health, get_project_status...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task_risk_qa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任务风险问答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逾期、风险、待办、负责人、阻塞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query_tasks, search_tasks, get_task_risks...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weekly_report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日报周报生成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周报、日报、总结、本周、下周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query_project_health, query_tasks, get_report...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general_mcp_qa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 MCP 问答（兜底）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查询、看看、帮我分析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get_/list_/query_/search_ 前缀工具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2834640"/>
            <a:ext cx="11064240" cy="3200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技能 ID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技能名称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触发关键词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允许的只读工具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关键约束：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只选只读工具（get_/list_/query_/search_ 前缀）·  关键词匹配分类（确定性逻辑）·  摘要可选模型（temperature=0.1），无 API Key 时走确定性摘要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数据库设计（MySQL 8 + Flyway）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9 Tables, V1-V5 Migrations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234440"/>
            <a:ext cx="2377440" cy="2743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admin_user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536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管理员账户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2377440"/>
            <a:ext cx="2377440" cy="2743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user_binding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679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飞书↔Primelayer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用户绑定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377440"/>
            <a:ext cx="2377440" cy="27432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feishu_chat_project_binding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679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飞书群↔项目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520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520440"/>
            <a:ext cx="2377440" cy="2743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project_mcp_token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822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项目级 MCP 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（密文存储）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4663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4663440"/>
            <a:ext cx="237744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20116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agent_task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03120" y="4965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agent_audit_log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0312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任务级审计日志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agent_tool_call_log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工具调用审计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0" y="5806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5806440"/>
            <a:ext cx="2377440" cy="27432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5806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agent_model_call_log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6108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模型调用审计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995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0" y="6949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19050">
            <a:solidFill>
              <a:srgbClr val="6B7B8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6949440"/>
            <a:ext cx="2377440" cy="27432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46" name="Text 44"/>
          <p:cNvSpPr/>
          <p:nvPr/>
        </p:nvSpPr>
        <p:spPr>
          <a:xfrm>
            <a:off x="2011680" y="6949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system_config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03120" y="7251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系统配置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（含 AES 主密钥）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5285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 迁移历史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9 张表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user_binding 增加 person_name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project_mcp_token 增加验证状态字段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 owner 字段    </a:t>
            </a:r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去重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当前问题与优化建议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P0 / P1 / P2 Priority Issues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5F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必须修复 — 上生产前阻断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855"/>
                </a:solidFill>
              </a:rPr>
              <a:t>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pom.xml maven-compiler-plugin 配置 source/target=5（Java 5！），与 java.version=17 严重矛盾 → 删除或改为 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855"/>
                </a:solidFill>
              </a:rPr>
              <a:t>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Token AES-GCM 主密钥存于 system_config 表 → 上生产前迁移到环境变量 / KMS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BF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2608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建议尽快处理 — 影响工程化质量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大量改动未提交：初始 commit 后所有迭代堆在工作区 → 按功能分批 commit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685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68503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默认管理员凭据 admin/admin123 → 生产环境必须强改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0325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03250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模型名不一致：.env.example 为 deepseek-v4-pro，application.yml 默认 deepseek-chat → 统一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379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3799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测试覆盖偏低：backend 仅 3 个测试类，agent-service 仅 1 个 → 核心编排与 MCP 适配补测试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2920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6B7B8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29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 — 功能与体验优化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440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5440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智能性有限：技能分类与工具选择均为关键词匹配 → 引入 LLM-based 路由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7332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5733288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DebugController 暴露调试端点 → 生产环境禁用或权限收敛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60258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6025896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.DS_Store 散落 → 确认 .gitignore 已忽略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方法论一致性：问题分析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Why same question yields different answers?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核心诉求：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同一个问题在不同时间提问，Agent 系统应得出一致的结论（方法论一致、推理路径一致、输出结构一致）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影响一致性的因素分析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109728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流水线阶段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当前实现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确定性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classify_skill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关键词匹配评分（确定性）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同义改写 / 口语化表达可能命中不同技能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select_project_scope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关键词 + 群聊上下文（确定性）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项目名称模糊匹配可能选错范围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plan_tool_calls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关键词评分选工具（确定性）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工具评分相同时 max() 取第一个，结果依赖列表顺序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summarize_answer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temperature=0.1（非确定性！）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即使 temperature=0.1，同一输入仍可能产出不同文本；无 API Key 时走确定性摘要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工具返回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底层数据可能变化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项目数据随时间变化是正常的，但结论结构应一致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09360" y="292608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2D9D5F">
              <a:alpha val="20000"/>
            </a:srgbClr>
          </a:solidFill>
          <a:ln w="12700">
            <a:solidFill>
              <a:srgbClr val="2D9D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329184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2D9D5F">
              <a:alpha val="20000"/>
            </a:srgbClr>
          </a:solidFill>
          <a:ln w="12700">
            <a:solidFill>
              <a:srgbClr val="2D9D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365760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2D9D5F">
              <a:alpha val="20000"/>
            </a:srgbClr>
          </a:solidFill>
          <a:ln w="12700">
            <a:solidFill>
              <a:srgbClr val="2D9D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402336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E84855">
              <a:alpha val="20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438912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5F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19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3 步（分类 → 范围 → 工具规划）已是确定性逻辑，同一输入必然走相同路径
</a:t>
            </a:r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summarize_answer 是唯一的不确定性来源：当 DeepSeek API Key 可用时，temperature=0.1 仍会产生不同文本
</a:t>
            </a:r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数据变化是业务正常的，但答案的</a:t>
            </a:r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结构模板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</a:t>
            </a:r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推理逻辑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应保持一致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方法论一致性：解决方案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7-Layer Consistency Guarantee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9304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9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确定性流水线优先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→ scope → plan 三步保持纯关键词逻辑；模型只参与摘要增强，不参与路由决策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39112"/>
            <a:ext cx="457200" cy="45720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 + 固定 Seed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286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调用 temperature 设为 0；如模型支持 seed 参数则传入固定值；失败时回退确定性摘要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734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结构化答案模板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0358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Skill 绑定 answerTemplate，模型输出必须遵循模板结构（结论 → 数据 → 风险 → 数据范围），而非自由文本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2D9D5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483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查询结果缓存层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7856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 (question_hash + project_ids + skill_id) 在 TTL 窗口内命中缓存，直接返回上次结论 + 数据时效声明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1879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288536"/>
            <a:ext cx="457200" cy="45720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233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版本管理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5354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systemPrompt / answerTemplate 纳入版本控制，每次变更记录版本号；审计日志记录使用的 prompt 版本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038344"/>
            <a:ext cx="457200" cy="457200"/>
          </a:xfrm>
          <a:prstGeom prst="ellipse">
            <a:avLst/>
          </a:prstGeom>
          <a:solidFill>
            <a:srgbClr val="6B7B8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Test 回归套件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5285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 20+ 黄金测试用例（question → 期望技能 + 期望工具 + 答案结构断言），CI 每次变更自动运行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6875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788152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788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80160" y="57332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完整审计可回放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8016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三级审计日志记录全链路（技能/工具/模型/prompt版本/参数），支持按 requestId 回放完整推理过程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一致性保障：实现细节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Code-Level Changes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F0F4F8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代码变更清单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7432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agent_graph.py → _model_summary()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0.1 → 0.0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seed 参数（固定值）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prompt_version 记录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[高]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2743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4144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skills.py → SkillDefinition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promptVersion 字段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answerTemplate 纳入版本管理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0" y="24414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[中]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31520" y="3191256"/>
            <a:ext cx="27432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1912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agent-service/app/cache.py (新增)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68680" y="34015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查询缓存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hash(question + project_ids + skill_id)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TTL: 300s（可配置）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31912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[高]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27432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4106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AgentOrchestrator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41513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agent-service 前先查缓存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命中则直接回复 + 缓存标记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394106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84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[高]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4690872"/>
            <a:ext cx="27432" cy="6583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9087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tests/golden_cases.py (新增)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490118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黄金用例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断言：技能分类 + 工具选择 + 答案结构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集成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46908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[中]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31520" y="5440680"/>
            <a:ext cx="27432" cy="658368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440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→ agent_model_call_log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68680" y="56509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prompt_version 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 temperature / seed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5440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[低]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查询缓存流程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17373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0A6A6">
              <a:alpha val="7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7373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用户提问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9536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AF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22860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0F4C81">
              <a:alpha val="70000"/>
            </a:srgbClr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286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 cache_key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hash(question + project_ids + skill_id)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95360" y="2743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AF"/>
                </a:solidFill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0" y="30175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017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GET cache_key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72400" y="3566160"/>
            <a:ext cx="2194560" cy="502920"/>
          </a:xfrm>
          <a:prstGeom prst="diamond">
            <a:avLst/>
          </a:prstGeom>
          <a:solidFill>
            <a:srgbClr val="00A6A6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3566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命中？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95360" y="4023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AF"/>
                </a:solidFill>
              </a:rPr>
              <a:t>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0" y="41148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2D9D5F">
              <a:alpha val="70000"/>
            </a:srgbClr>
          </a:solidFill>
          <a:ln w="12700">
            <a:solidFill>
              <a:srgbClr val="2D9D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4114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命中 → 返回缓存结论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追加「数据截止时间」声明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95360" y="4572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AF"/>
                </a:solidFill>
              </a:rPr>
              <a:t>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58000" y="49377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E84855">
              <a:alpha val="70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937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未命中 → 正常编排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写入缓存 → 返回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9D5F"/>
                </a:solidFill>
              </a:rPr>
              <a:t>→ 是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24128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855"/>
                </a:solidFill>
              </a:rPr>
              <a:t>→ 否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技术路线与演进规划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MVP → Engineering →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稳定化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当前 ~ +1月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 pom.xml 编译配置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953512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提交存量改动，分批 commit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392424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主密钥迁移环境变量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831336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默认凭据强改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70248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DeepSeek 模型名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91440" cy="9144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补核心链路测试（编排/MCP适配）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6908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38912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工程化与一致性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+1 ~ +3月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5146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Temperature=0 + 固定 Seed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295351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结构化答案模板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3924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查询缓存层（Redis）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83133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版本管理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427024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Test 回归套件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470916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DebugController 权限收敛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51480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技能路由（可选）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558698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55412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化部署 + CI/CD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095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822960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0F4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1188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A6A6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1216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36676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Agent 平台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698480" y="1261872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698480" y="1261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36676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+3 ~ +6月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412480" y="2514600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58" name="Text 56"/>
          <p:cNvSpPr/>
          <p:nvPr/>
        </p:nvSpPr>
        <p:spPr>
          <a:xfrm>
            <a:off x="85953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工具配置后台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12480" y="2953512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Prompt 模板管理 UI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412480" y="3392424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2" name="Text 60"/>
          <p:cNvSpPr/>
          <p:nvPr/>
        </p:nvSpPr>
        <p:spPr>
          <a:xfrm>
            <a:off x="8595360" y="33467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多入口接入（Web/企微/钉钉）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412480" y="3831336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4" name="Text 62"/>
          <p:cNvSpPr/>
          <p:nvPr/>
        </p:nvSpPr>
        <p:spPr>
          <a:xfrm>
            <a:off x="859536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多步工具调用编排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12480" y="4270248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6" name="Text 64"/>
          <p:cNvSpPr/>
          <p:nvPr/>
        </p:nvSpPr>
        <p:spPr>
          <a:xfrm>
            <a:off x="8595360" y="4224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长期任务代理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12480" y="4709160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8" name="Text 66"/>
          <p:cNvSpPr/>
          <p:nvPr/>
        </p:nvSpPr>
        <p:spPr>
          <a:xfrm>
            <a:off x="859536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项目风险主动监控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12480" y="5148072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0" name="Text 68"/>
          <p:cNvSpPr/>
          <p:nvPr/>
        </p:nvSpPr>
        <p:spPr>
          <a:xfrm>
            <a:off x="859536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自动日报/周报/健康度分析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412480" y="5586984"/>
            <a:ext cx="91440" cy="9144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72" name="Text 70"/>
          <p:cNvSpPr/>
          <p:nvPr/>
        </p:nvSpPr>
        <p:spPr>
          <a:xfrm>
            <a:off x="8595360" y="55412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多模型支持（不限于 DeepSeek）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88952" cy="27432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技术栈全景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Technology Stack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4F8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(backend)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Java 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Boot 3.3.7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24942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0545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AMQP (RabbitMQ)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6148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Spring JDBC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Flyway 6 (V1-V5)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27355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MySQL 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529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Lark OAPI SDK 2.4.0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78561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Jackson / RestClient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04164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Bean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188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4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18872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1188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智能层 (agent-service)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17373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Python 3.10+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FastAPI 0.115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224942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LangChain 0.3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250545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LangGraph 0.2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276148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Pydantic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LangChain-OpenAI (DeepSeek)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327355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Uvicorn ASGI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3529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5-Step StateGraph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378561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Keyword-based Classifier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404164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Deterministic Fallback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4F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1188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(admin-web)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17373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Vue 3 (Composition API)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199339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Ant Design Vue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224942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Vite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250545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TypeScript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276148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Pinia (状态管理)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301752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Vue Router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327355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Axios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352958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10 Views / 3 Components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29600" y="3785616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CrudPage 通用组件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041648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ResultViewer JSON 展示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46634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A1A2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基础设施与中间件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" y="51206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120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03120" y="5120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张表 + Flyway 迁移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89120" y="51206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5120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760720" y="5120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异步任务队列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046720" y="51206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5120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418320" y="5120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底层大模型 (plan + summarize)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1520" y="57150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5715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Primelayer MCP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103120" y="5715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 协议适配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89120" y="57150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5715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Feishu OpenAPI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760720" y="5715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事件回调 + 消息回复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046720" y="57150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0F4C81">
              <a:alpha val="2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38160" y="5715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418320" y="5715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密文存储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F4C8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00A6A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总结与下一步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71600"/>
            <a:ext cx="73152" cy="1097280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项目现状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架构清晰、职责分明的 MVP 已基本成型。Java 安全边界 + Python 智能层 + Vue 管理后台，三级审计齐全，异步化设计周到。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优化方向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修编译配置 + 迁密钥 → P1 提交存量 + 强改凭据 + 补测试 → P2 升级智能路由 + 收敛调试接口。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2D9D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1097280"/>
          </a:xfrm>
          <a:prstGeom prst="rect">
            <a:avLst/>
          </a:prstGeom>
          <a:solidFill>
            <a:srgbClr val="2D9D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一致性保障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层方案：确定性流水线 + temperature=0 + 模板化输出 + 查询缓存 + Prompt 版本管理 + Golden Test + 审计回放。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A1A2E">
              <a:alpha val="50000"/>
            </a:srgbClr>
          </a:solidFill>
          <a:ln w="19050">
            <a:solidFill>
              <a:srgbClr val="0F4C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MVP 稳定化 → Phase 2 工程化与一致性 → Phase 3 通用 Agent 平台（多入口、多步工具、主动监控）。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① 修 pom.xml 编译配置   ② 提交存量改动   ③ 迁移 MCP 主密钥   ④ 强改默认凭据   ⑤ 补核心链路测试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88952" cy="1828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Lark Connect Agent Gateway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D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Primelayer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Lark Connect Agent Gateway 项目分析与技术路线</dc:subject>
  <dc:creator>Lark Connect Team</dc:creator>
  <cp:lastModifiedBy>Lark Connect Team</cp:lastModifiedBy>
  <cp:revision>1</cp:revision>
  <dcterms:created xsi:type="dcterms:W3CDTF">2026-06-30T16:57:21Z</dcterms:created>
  <dcterms:modified xsi:type="dcterms:W3CDTF">2026-06-30T16:57:21Z</dcterms:modified>
</cp:coreProperties>
</file>